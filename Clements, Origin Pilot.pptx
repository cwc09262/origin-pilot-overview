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827940-0617-8946-AB70-D4D16BD10D45}" v="3" dt="2026-04-25T13:06:31.5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433"/>
    <p:restoredTop sz="83584"/>
  </p:normalViewPr>
  <p:slideViewPr>
    <p:cSldViewPr snapToGrid="0">
      <p:cViewPr>
        <p:scale>
          <a:sx n="110" d="100"/>
          <a:sy n="110" d="100"/>
        </p:scale>
        <p:origin x="-8" y="80"/>
      </p:cViewPr>
      <p:guideLst/>
    </p:cSldViewPr>
  </p:slideViewPr>
  <p:notesTextViewPr>
    <p:cViewPr>
      <p:scale>
        <a:sx n="1" d="1"/>
        <a:sy n="1" d="1"/>
      </p:scale>
      <p:origin x="0" y="-592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den Clements" userId="860b09d1-2d68-4623-8686-70c4607f369d" providerId="ADAL" clId="{CB331C63-E20D-503B-9F3D-054D2F6573C2}"/>
    <pc:docChg chg="modSld modNotesMaster modHandout">
      <pc:chgData name="Caden Clements" userId="860b09d1-2d68-4623-8686-70c4607f369d" providerId="ADAL" clId="{CB331C63-E20D-503B-9F3D-054D2F6573C2}" dt="2026-04-25T13:07:18.945" v="4" actId="14"/>
      <pc:docMkLst>
        <pc:docMk/>
      </pc:docMkLst>
      <pc:sldChg chg="modNotes">
        <pc:chgData name="Caden Clements" userId="860b09d1-2d68-4623-8686-70c4607f369d" providerId="ADAL" clId="{CB331C63-E20D-503B-9F3D-054D2F6573C2}" dt="2026-04-25T13:06:20.187" v="0"/>
        <pc:sldMkLst>
          <pc:docMk/>
          <pc:sldMk cId="3827463713" sldId="256"/>
        </pc:sldMkLst>
      </pc:sldChg>
      <pc:sldChg chg="modNotes">
        <pc:chgData name="Caden Clements" userId="860b09d1-2d68-4623-8686-70c4607f369d" providerId="ADAL" clId="{CB331C63-E20D-503B-9F3D-054D2F6573C2}" dt="2026-04-25T13:06:20.187" v="0"/>
        <pc:sldMkLst>
          <pc:docMk/>
          <pc:sldMk cId="4154510648" sldId="257"/>
        </pc:sldMkLst>
      </pc:sldChg>
      <pc:sldChg chg="modNotes">
        <pc:chgData name="Caden Clements" userId="860b09d1-2d68-4623-8686-70c4607f369d" providerId="ADAL" clId="{CB331C63-E20D-503B-9F3D-054D2F6573C2}" dt="2026-04-25T13:06:20.187" v="0"/>
        <pc:sldMkLst>
          <pc:docMk/>
          <pc:sldMk cId="1555342015" sldId="258"/>
        </pc:sldMkLst>
      </pc:sldChg>
      <pc:sldChg chg="modNotes">
        <pc:chgData name="Caden Clements" userId="860b09d1-2d68-4623-8686-70c4607f369d" providerId="ADAL" clId="{CB331C63-E20D-503B-9F3D-054D2F6573C2}" dt="2026-04-25T13:06:20.187" v="0"/>
        <pc:sldMkLst>
          <pc:docMk/>
          <pc:sldMk cId="2332546034" sldId="259"/>
        </pc:sldMkLst>
      </pc:sldChg>
      <pc:sldChg chg="modNotes modNotesTx">
        <pc:chgData name="Caden Clements" userId="860b09d1-2d68-4623-8686-70c4607f369d" providerId="ADAL" clId="{CB331C63-E20D-503B-9F3D-054D2F6573C2}" dt="2026-04-25T13:07:18.945" v="4" actId="14"/>
        <pc:sldMkLst>
          <pc:docMk/>
          <pc:sldMk cId="2845873396" sldId="260"/>
        </pc:sldMkLst>
      </pc:sldChg>
      <pc:sldChg chg="modNotes">
        <pc:chgData name="Caden Clements" userId="860b09d1-2d68-4623-8686-70c4607f369d" providerId="ADAL" clId="{CB331C63-E20D-503B-9F3D-054D2F6573C2}" dt="2026-04-25T13:06:20.187" v="0"/>
        <pc:sldMkLst>
          <pc:docMk/>
          <pc:sldMk cId="3493474813" sldId="261"/>
        </pc:sldMkLst>
      </pc:sldChg>
      <pc:sldChg chg="modNotes">
        <pc:chgData name="Caden Clements" userId="860b09d1-2d68-4623-8686-70c4607f369d" providerId="ADAL" clId="{CB331C63-E20D-503B-9F3D-054D2F6573C2}" dt="2026-04-25T13:06:20.187" v="0"/>
        <pc:sldMkLst>
          <pc:docMk/>
          <pc:sldMk cId="3617267598" sldId="26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711716-D5E8-44D6-6E3C-68C983B8FE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Caden Clements - Quantum FInal Project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29E9C4-E7B7-39E3-6B37-454C12442B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9606DC-A34D-024A-BA8A-263AD6D3894B}" type="datetimeFigureOut">
              <a:rPr lang="en-US" smtClean="0"/>
              <a:t>4/25/26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4D4D94-44ED-309D-EBA5-30302CCB3C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407A69-92B4-57C3-9590-DD0FA3204EC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46E707-E115-0E4E-8026-399FC071C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094314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Caden Clements - Quantum FInal Project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EEA3CC-9D1D-414B-90B7-A4CAA48A484B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7157FF-FF8D-6740-A80D-85E0FAE8E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756714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7157FF-FF8D-6740-A80D-85E0FAE8EE6F}" type="slidenum">
              <a:rPr lang="en-US" smtClean="0"/>
              <a:t>1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3553F2A1-723A-C12A-B9DC-6F2577B5EE5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Caden Clements - Quantum FInal Project</a:t>
            </a:r>
          </a:p>
        </p:txBody>
      </p:sp>
    </p:spTree>
    <p:extLst>
      <p:ext uri="{BB962C8B-B14F-4D97-AF65-F5344CB8AC3E}">
        <p14:creationId xmlns:p14="http://schemas.microsoft.com/office/powerpoint/2010/main" val="1548639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Overview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Launched in 2021 by Origin Quantum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Known as China's first quantum computer operating system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Acts as a central command hub for quantum computing operations and scheduling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Hardware Integration (Downstream)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Provides unified access to multiple quantum hardware types: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Superconducting circuits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Trapped ions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Semiconductors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Neutral atoms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Photonics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Contributions of Origin Pilot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Calibrate one or many qubits without interrupting other circuits</a:t>
            </a:r>
          </a:p>
          <a:p>
            <a:pPr lvl="2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Ensuring it is in the correct starting state – CHECK FOR THIS</a:t>
            </a:r>
          </a:p>
          <a:p>
            <a:pPr lvl="2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allocate quantum resources for quantum circuits according to the state of the quantum resources and the requirements of quantum circuits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 the decoherent noise with dynamic decoupling in qubits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7157FF-FF8D-6740-A80D-85E0FAE8EE6F}" type="slidenum">
              <a:rPr lang="en-US" smtClean="0"/>
              <a:t>2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1492C44E-7330-09F6-9D76-60816D9344C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Caden Clements - Quantum FInal Project</a:t>
            </a:r>
          </a:p>
        </p:txBody>
      </p:sp>
    </p:spTree>
    <p:extLst>
      <p:ext uri="{BB962C8B-B14F-4D97-AF65-F5344CB8AC3E}">
        <p14:creationId xmlns:p14="http://schemas.microsoft.com/office/powerpoint/2010/main" val="2490956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1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Scheduling multiple quantum tasks on multiple quantum processors</a:t>
                </a:r>
              </a:p>
              <a:p>
                <a:pPr lvl="2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Quantum task elements</a:t>
                </a:r>
              </a:p>
              <a:p>
                <a:pPr lvl="3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(1) The number of qubits required for a quantum task;</a:t>
                </a:r>
              </a:p>
              <a:p>
                <a:pPr lvl="3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(2) Quantum program’s intermediate representation;</a:t>
                </a:r>
              </a:p>
              <a:p>
                <a:pPr lvl="3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(3) Quantum processor’s ID;</a:t>
                </a:r>
              </a:p>
              <a:p>
                <a:pPr lvl="3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(4) Type of a quantum task: a quantum task can be a general quantum task or automatic calibration task;</a:t>
                </a:r>
              </a:p>
              <a:p>
                <a:pPr lvl="3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(5) Priority: The priority of a quantum task.</a:t>
                </a:r>
              </a:p>
              <a:p>
                <a:pPr lvl="2"/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Hightest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Response Ratio Next – HRRN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rPr>
                          <m:t>𝑅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rPr>
                          <m:t>𝑝</m:t>
                        </m:r>
                      </m:sub>
                    </m:sSub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rPr>
                          <m:t> </m:t>
                        </m:r>
                        <m:sSub>
                          <m:sSubPr>
                            <m:ctrlPr>
                              <a:rPr lang="en-US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+mn-lt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+mn-lt"/>
                                <a:ea typeface="+mn-ea"/>
                                <a:cs typeface="+mn-cs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+mn-lt"/>
                                <a:ea typeface="+mn-ea"/>
                                <a:cs typeface="+mn-cs"/>
                              </a:rPr>
                              <m:t>𝑤𝑎𝑖𝑡𝑖𝑛</m:t>
                            </m:r>
                            <m:sSub>
                              <m:sSubPr>
                                <m:ctrlPr>
                                  <a:rPr lang="en-US" sz="12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lang="en-US" sz="12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12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+mn-lt"/>
                                <a:ea typeface="+mn-ea"/>
                                <a:cs typeface="+mn-cs"/>
                              </a:rPr>
                              <m:t>𝑖𝑚𝑒</m:t>
                            </m:r>
                          </m:sub>
                        </m:s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rPr>
                          <m:t> +</m:t>
                        </m:r>
                        <m:sSub>
                          <m:sSubPr>
                            <m:ctrlPr>
                              <a:rPr lang="en-US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+mn-lt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+mn-lt"/>
                                <a:ea typeface="+mn-ea"/>
                                <a:cs typeface="+mn-cs"/>
                              </a:rPr>
                              <m:t> </m:t>
                            </m:r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+mn-lt"/>
                                <a:ea typeface="+mn-ea"/>
                                <a:cs typeface="+mn-cs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+mn-lt"/>
                                <a:ea typeface="+mn-ea"/>
                                <a:cs typeface="+mn-cs"/>
                              </a:rPr>
                              <m:t>𝑟𝑢𝑛𝑡𝑖𝑚𝑒</m:t>
                            </m:r>
                          </m:sub>
                        </m:sSub>
                      </m:num>
                      <m:den>
                        <m: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rPr>
                          <m:t> </m:t>
                        </m:r>
                        <m:sSub>
                          <m:sSubPr>
                            <m:ctrlPr>
                              <a:rPr lang="en-US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+mn-lt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+mn-lt"/>
                                <a:ea typeface="+mn-ea"/>
                                <a:cs typeface="+mn-cs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+mn-lt"/>
                                <a:ea typeface="+mn-ea"/>
                                <a:cs typeface="+mn-cs"/>
                              </a:rPr>
                              <m:t>𝑟𝑢𝑛𝑡𝑖𝑚𝑒</m:t>
                            </m:r>
                          </m:sub>
                        </m:sSub>
                      </m:den>
                    </m:f>
                    <m:r>
                      <a:rPr lang="en-US" sz="1200" i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rPr>
                      <m:t> = </m:t>
                    </m:r>
                    <m:f>
                      <m:f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+mn-lt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+mn-lt"/>
                                <a:ea typeface="+mn-ea"/>
                                <a:cs typeface="+mn-cs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+mn-lt"/>
                                <a:ea typeface="+mn-ea"/>
                                <a:cs typeface="+mn-cs"/>
                              </a:rPr>
                              <m:t>𝑟𝑒𝑠𝑝𝑜𝑛𝑠</m:t>
                            </m:r>
                            <m:sSub>
                              <m:sSubPr>
                                <m:ctrlPr>
                                  <a:rPr lang="en-US" sz="12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lang="en-US" sz="12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12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+mn-lt"/>
                                <a:ea typeface="+mn-ea"/>
                                <a:cs typeface="+mn-cs"/>
                              </a:rPr>
                              <m:t>𝑖𝑚𝑒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+mn-lt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+mn-lt"/>
                                <a:ea typeface="+mn-ea"/>
                                <a:cs typeface="+mn-cs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effectLst/>
                                <a:latin typeface="+mn-lt"/>
                                <a:ea typeface="+mn-ea"/>
                                <a:cs typeface="+mn-cs"/>
                              </a:rPr>
                              <m:t>𝑟𝑢𝑛𝑡𝑖𝑚𝑒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 </a:t>
                </a:r>
              </a:p>
              <a:p>
                <a:r>
                  <a:rPr lang="en-US" dirty="0"/>
                  <a:t>Some of the classical algorithms include</a:t>
                </a:r>
              </a:p>
              <a:p>
                <a:r>
                  <a:rPr lang="en-US" dirty="0"/>
                  <a:t>First come first serve</a:t>
                </a:r>
              </a:p>
              <a:p>
                <a:r>
                  <a:rPr lang="en-US" dirty="0"/>
                  <a:t>Shortest Job First</a:t>
                </a:r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1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Scheduling multiple quantum tasks on multiple quantum processors</a:t>
                </a:r>
              </a:p>
              <a:p>
                <a:pPr lvl="2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Quantum task elements</a:t>
                </a:r>
              </a:p>
              <a:p>
                <a:pPr lvl="3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(1) The number of qubits required for a quantum task;</a:t>
                </a:r>
              </a:p>
              <a:p>
                <a:pPr lvl="3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(2) Quantum program’s intermediate representation;</a:t>
                </a:r>
              </a:p>
              <a:p>
                <a:pPr lvl="3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(3) Quantum processor’s ID;</a:t>
                </a:r>
              </a:p>
              <a:p>
                <a:pPr lvl="3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(4) Type of a quantum task: a quantum task can be a general quantum task or automatic calibration task;</a:t>
                </a:r>
              </a:p>
              <a:p>
                <a:pPr lvl="3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(5) Priority: The priority of a quantum task.</a:t>
                </a:r>
              </a:p>
              <a:p>
                <a:pPr lvl="2"/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Hightest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Response Ratio Next – HRRN</a:t>
                </a:r>
              </a:p>
              <a:p>
                <a:pPr lvl="2"/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𝑅_𝑝=( 𝑇_(𝑤𝑎𝑖𝑡𝑖𝑛𝑔_𝑡 𝑖𝑚𝑒)  +〖 𝑇〗_𝑟𝑢𝑛𝑡𝑖𝑚𝑒)/( 𝑇_𝑟𝑢𝑛𝑡𝑖𝑚𝑒 )  =  𝑇_(𝑟𝑒𝑠𝑝𝑜𝑛𝑠𝑒_𝑡 𝑖𝑚𝑒)/𝑇_𝑟𝑢𝑛𝑡𝑖𝑚𝑒 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 </a:t>
                </a:r>
              </a:p>
              <a:p>
                <a:r>
                  <a:rPr lang="en-US" dirty="0"/>
                  <a:t>Some of the classical algorithms include</a:t>
                </a:r>
              </a:p>
              <a:p>
                <a:r>
                  <a:rPr lang="en-US" dirty="0"/>
                  <a:t>First come first serve</a:t>
                </a:r>
              </a:p>
              <a:p>
                <a:r>
                  <a:rPr lang="en-US" dirty="0"/>
                  <a:t>Shortest Job First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7157FF-FF8D-6740-A80D-85E0FAE8EE6F}" type="slidenum">
              <a:rPr lang="en-US" smtClean="0"/>
              <a:t>3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1FBB9AF8-5600-1DA2-2DAA-E25203B8B21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Caden Clements - Quantum FInal Project</a:t>
            </a:r>
          </a:p>
        </p:txBody>
      </p:sp>
    </p:spTree>
    <p:extLst>
      <p:ext uri="{BB962C8B-B14F-4D97-AF65-F5344CB8AC3E}">
        <p14:creationId xmlns:p14="http://schemas.microsoft.com/office/powerpoint/2010/main" val="1214014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Qubit mapping is treated as a token-swap problem, where minimizing SWAP gates is critical due to added error and exponential complexity.</a:t>
            </a:r>
          </a:p>
          <a:p>
            <a:r>
              <a:rPr lang="en-US" dirty="0"/>
              <a:t>SWAP gates introduce additional noise, so mapping aims to both reduce swaps and choose routes with the highest fidelity.</a:t>
            </a:r>
          </a:p>
          <a:p>
            <a:r>
              <a:rPr lang="en-US" dirty="0"/>
              <a:t>Quantum tasks are scheduled and executed in parallel using transactions, but only one transaction runs at a time.</a:t>
            </a:r>
          </a:p>
          <a:p>
            <a:r>
              <a:rPr lang="en-US" dirty="0"/>
              <a:t>Before execution, logical qubits must be mapped to physical qubits based on the processor’s topology.</a:t>
            </a:r>
          </a:p>
          <a:p>
            <a:r>
              <a:rPr lang="en-US" dirty="0"/>
              <a:t>Automatic calibration tasks are given higher priority and do not require qubit mapping, preventing interference with other tasks.</a:t>
            </a:r>
          </a:p>
          <a:p>
            <a:r>
              <a:rPr lang="en-US" dirty="0"/>
              <a:t>Calibration tasks follow a First-Come-First-Served (FCFS) scheduling strategy.</a:t>
            </a:r>
          </a:p>
          <a:p>
            <a:r>
              <a:rPr lang="en-US" dirty="0"/>
              <a:t>The mapping process involves converting the quantum program into a Directed Acyclic Graph (DAG) and identifying optimal subgraph sequences.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7157FF-FF8D-6740-A80D-85E0FAE8EE6F}" type="slidenum">
              <a:rPr lang="en-US" smtClean="0"/>
              <a:t>4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00E7D857-C803-A353-A05E-71EDE6216E0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Caden Clements - Quantum FInal Project</a:t>
            </a:r>
          </a:p>
        </p:txBody>
      </p:sp>
    </p:spTree>
    <p:extLst>
      <p:ext uri="{BB962C8B-B14F-4D97-AF65-F5344CB8AC3E}">
        <p14:creationId xmlns:p14="http://schemas.microsoft.com/office/powerpoint/2010/main" val="3817582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Callibration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2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Qubits’ coherence time can be used to describe the coupling strength between a quantum system and the environment.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longer they hold the state the better it gets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Magnetic can disturb the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envirornment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3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Qubit quality depends on multiple factors, so continuous calibration is required.</a:t>
            </a:r>
          </a:p>
          <a:p>
            <a:pPr lvl="3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Calibration has two steps: check performance → adjust errors.</a:t>
            </a:r>
          </a:p>
          <a:p>
            <a:pPr lvl="3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 a POMDP model to automate calibration decisions.</a:t>
            </a:r>
          </a:p>
          <a:p>
            <a:pPr lvl="3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Partially Observable Markov Decision Process (POMDP)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models calibration by letting an agent use noisy measurement observations to infer hidden hardware states and choose actions that maximize fidelity while minimizing calibration cost over time.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3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Processor is split into execution and calibration regions.</a:t>
            </a:r>
          </a:p>
          <a:p>
            <a:pPr lvl="3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Tasks run on the best-performing region, improving fidelity.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7157FF-FF8D-6740-A80D-85E0FAE8EE6F}" type="slidenum">
              <a:rPr lang="en-US" smtClean="0"/>
              <a:t>5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B1D49798-BF69-039C-6D4A-294AE1A8C00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Caden Clements - Quantum FInal Project</a:t>
            </a:r>
          </a:p>
        </p:txBody>
      </p:sp>
    </p:spTree>
    <p:extLst>
      <p:ext uri="{BB962C8B-B14F-4D97-AF65-F5344CB8AC3E}">
        <p14:creationId xmlns:p14="http://schemas.microsoft.com/office/powerpoint/2010/main" val="1380665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  <a:p>
            <a:pPr lvl="1"/>
            <a:r>
              <a:rPr lang="en-US" dirty="0"/>
              <a:t>Quantum operating systems are still early-stage research.</a:t>
            </a:r>
          </a:p>
          <a:p>
            <a:pPr lvl="1"/>
            <a:r>
              <a:rPr lang="en-US" dirty="0"/>
              <a:t>Origin Pilot provides core features: task scheduling, resource management, parallel execution, and calibration.</a:t>
            </a:r>
          </a:p>
          <a:p>
            <a:pPr lvl="1"/>
            <a:r>
              <a:rPr lang="en-US" dirty="0"/>
              <a:t>Future work includes distributed quantum computing and hybrid classical-quantum systems.</a:t>
            </a:r>
          </a:p>
          <a:p>
            <a:pPr lvl="1"/>
            <a:r>
              <a:rPr lang="en-US" dirty="0"/>
              <a:t>Plans to release the source code publicly for non-commercial use.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7157FF-FF8D-6740-A80D-85E0FAE8EE6F}" type="slidenum">
              <a:rPr lang="en-US" smtClean="0"/>
              <a:t>6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F5E54980-10A6-17B8-FFFF-D35BFB1CF5B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Caden Clements - Quantum FInal Project</a:t>
            </a:r>
          </a:p>
        </p:txBody>
      </p:sp>
    </p:spTree>
    <p:extLst>
      <p:ext uri="{BB962C8B-B14F-4D97-AF65-F5344CB8AC3E}">
        <p14:creationId xmlns:p14="http://schemas.microsoft.com/office/powerpoint/2010/main" val="6604498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7157FF-FF8D-6740-A80D-85E0FAE8EE6F}" type="slidenum">
              <a:rPr lang="en-US" smtClean="0"/>
              <a:t>7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680E76E7-BBF5-B8FB-4BEE-EE2CFC9D19A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Caden Clements - Quantum FInal Project</a:t>
            </a:r>
          </a:p>
        </p:txBody>
      </p:sp>
    </p:spTree>
    <p:extLst>
      <p:ext uri="{BB962C8B-B14F-4D97-AF65-F5344CB8AC3E}">
        <p14:creationId xmlns:p14="http://schemas.microsoft.com/office/powerpoint/2010/main" val="1084598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3411A-3E67-B344-9696-23AB92278DD8}" type="datetime1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79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EFB6A-54E9-0449-8EDF-DD534C97F54D}" type="datetime1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02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D8025-67EF-FE4A-BED5-333E6ED58315}" type="datetime1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08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4F3CF-570A-4645-8821-0A2512B053EC}" type="datetime1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044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91E9A-B4C6-A041-8119-07D47FE48428}" type="datetime1">
              <a:rPr lang="en-US" smtClean="0"/>
              <a:t>4/25/26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07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F1DCE-2087-F342-90ED-225F6EEBB2FA}" type="datetime1">
              <a:rPr lang="en-US" smtClean="0"/>
              <a:t>4/25/26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605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8D73-47D0-6B4D-96A9-3FC0E334AA38}" type="datetime1">
              <a:rPr lang="en-US" smtClean="0"/>
              <a:t>4/25/26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328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93A25-452A-7240-9BD1-F01D496726F7}" type="datetime1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29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37B96-A91A-6045-8EC7-85E1A0E160A3}" type="datetime1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31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0BD9C-15E2-BE49-8049-234B7D8E9B38}" type="datetime1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188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2754C-6B30-9A4D-BF52-EB6AE750D827}" type="datetime1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182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52C2FFC-503F-A945-9110-CFC04B406C49}" type="datetime1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49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originqc.com/blogs/origin-pilot-download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hequantuminsider.com/2026/02/27/chinese-firm-releases-open-source-quantum-operating-system-for-public-download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D98B72-2135-A6A7-792B-F65C7959B1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>
                <a:solidFill>
                  <a:srgbClr val="FFFFFF"/>
                </a:solidFill>
              </a:rPr>
              <a:t>Origin Pilot</a:t>
            </a:r>
            <a:br>
              <a:rPr lang="en-US" sz="4200">
                <a:solidFill>
                  <a:srgbClr val="FFFFFF"/>
                </a:solidFill>
              </a:rPr>
            </a:br>
            <a:r>
              <a:rPr lang="en-US" sz="4200">
                <a:solidFill>
                  <a:srgbClr val="FFFFFF"/>
                </a:solidFill>
              </a:rPr>
              <a:t>The First Quantum Operating System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28C33E-1442-4D97-6ACD-7FE47EB6E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</a:rPr>
              <a:t>Caden W. Clements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</a:rPr>
              <a:t>CSC 9010: Program Quantum Computers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</a:rPr>
              <a:t>Final Project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and white circular object&#10;&#10;AI-generated content may be incorrect.">
            <a:extLst>
              <a:ext uri="{FF2B5EF4-FFF2-40B4-BE49-F238E27FC236}">
                <a16:creationId xmlns:a16="http://schemas.microsoft.com/office/drawing/2014/main" id="{D2360992-8911-E276-21D1-3F930B5CD62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b="881"/>
          <a:stretch>
            <a:fillRect/>
          </a:stretch>
        </p:blipFill>
        <p:spPr>
          <a:xfrm>
            <a:off x="-22366" y="-2"/>
            <a:ext cx="1219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4637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31F458-B074-1CE6-FFB9-6FFE95BDA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Introduction</a:t>
            </a:r>
            <a:br>
              <a:rPr lang="en-US" dirty="0"/>
            </a:b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95CCB6-8715-41C1-8502-FEFEE3578B8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73" t="14121" r="9501" b="14395"/>
          <a:stretch>
            <a:fillRect/>
          </a:stretch>
        </p:blipFill>
        <p:spPr bwMode="auto">
          <a:xfrm>
            <a:off x="517867" y="2429691"/>
            <a:ext cx="6016667" cy="3916313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CD7A6-6799-213D-F13E-781781088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r>
              <a:rPr lang="en-US" dirty="0"/>
              <a:t>Launched in 2021 by Origin Quantum</a:t>
            </a:r>
          </a:p>
          <a:p>
            <a:r>
              <a:rPr lang="en-US" dirty="0"/>
              <a:t>China’s first Quantum Operating system</a:t>
            </a:r>
          </a:p>
          <a:p>
            <a:pPr lvl="1"/>
            <a:r>
              <a:rPr lang="en-US" dirty="0"/>
              <a:t>Now: Central command hub for China’s quantum computing Operations</a:t>
            </a:r>
          </a:p>
          <a:p>
            <a:r>
              <a:rPr lang="en-US" dirty="0"/>
              <a:t>Hardware Integration:</a:t>
            </a:r>
          </a:p>
          <a:p>
            <a:pPr lvl="1"/>
            <a:r>
              <a:rPr lang="en-US" dirty="0"/>
              <a:t>Superconducting, Trapped ions, Semiconductors, Neutral atoms, and Photonics. </a:t>
            </a:r>
          </a:p>
          <a:p>
            <a:r>
              <a:rPr lang="en-US" dirty="0"/>
              <a:t>Supporting different computing backends: </a:t>
            </a:r>
          </a:p>
          <a:p>
            <a:pPr lvl="1"/>
            <a:r>
              <a:rPr lang="en-US" dirty="0"/>
              <a:t>quantum processors, quantum virtual machines and high-performance computing clusters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510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4CDE80-9214-19EE-8EFD-BE7C7CD46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>
            <a:normAutofit/>
          </a:bodyPr>
          <a:lstStyle/>
          <a:p>
            <a:r>
              <a:rPr lang="en-US" dirty="0"/>
              <a:t>Task Scheduling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A76C8F-8FAB-2146-3457-E51803A535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2578608"/>
                <a:ext cx="6263640" cy="376732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Multiple tasks on multiple processors. </a:t>
                </a:r>
              </a:p>
              <a:p>
                <a:r>
                  <a:rPr lang="en-US" dirty="0"/>
                  <a:t>Elements of a quantum task</a:t>
                </a:r>
              </a:p>
              <a:p>
                <a:pPr lvl="1"/>
                <a:r>
                  <a:rPr lang="en-US" dirty="0"/>
                  <a:t># of qubits</a:t>
                </a:r>
              </a:p>
              <a:p>
                <a:pPr lvl="1"/>
                <a:r>
                  <a:rPr lang="en-US" dirty="0"/>
                  <a:t>a programs intermediate representation</a:t>
                </a:r>
              </a:p>
              <a:p>
                <a:pPr lvl="1"/>
                <a:r>
                  <a:rPr lang="en-US" dirty="0"/>
                  <a:t>Processor’s ID</a:t>
                </a:r>
              </a:p>
              <a:p>
                <a:pPr lvl="1"/>
                <a:r>
                  <a:rPr lang="en-US" dirty="0"/>
                  <a:t>Type of task: General or a calibration task</a:t>
                </a:r>
              </a:p>
              <a:p>
                <a:pPr lvl="1"/>
                <a:r>
                  <a:rPr lang="en-US" dirty="0"/>
                  <a:t>Priority of the task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Highest Response Ratio Next – HRRN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𝑤𝑎𝑖𝑡𝑖𝑛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𝑖𝑚𝑒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 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𝑟𝑢𝑛𝑡𝑖𝑚𝑒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𝑟𝑢𝑛𝑡𝑖𝑚𝑒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𝑟𝑒𝑠𝑝𝑜𝑛𝑠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𝑖𝑚𝑒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𝑟𝑢𝑛𝑡𝑖𝑚𝑒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 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A76C8F-8FAB-2146-3457-E51803A535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2578608"/>
                <a:ext cx="6263640" cy="3767328"/>
              </a:xfrm>
              <a:blipFill>
                <a:blip r:embed="rId3"/>
                <a:stretch>
                  <a:fillRect l="-810" b="-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diagram of a workflow&#10;&#10;AI-generated content may be incorrect.">
            <a:extLst>
              <a:ext uri="{FF2B5EF4-FFF2-40B4-BE49-F238E27FC236}">
                <a16:creationId xmlns:a16="http://schemas.microsoft.com/office/drawing/2014/main" id="{0CB307B8-07D5-141D-8B93-AB2E171D8F16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b="7701"/>
          <a:stretch>
            <a:fillRect/>
          </a:stretch>
        </p:blipFill>
        <p:spPr bwMode="auto">
          <a:xfrm>
            <a:off x="5324537" y="1882949"/>
            <a:ext cx="6430052" cy="420367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B64FC41-1FC9-0F0F-8F98-760F1DB323FB}"/>
              </a:ext>
            </a:extLst>
          </p:cNvPr>
          <p:cNvSpPr/>
          <p:nvPr/>
        </p:nvSpPr>
        <p:spPr>
          <a:xfrm>
            <a:off x="7973820" y="4282947"/>
            <a:ext cx="857661" cy="578421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342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91231-A3BA-10C2-B03C-B87C6F5B5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5160" y="978408"/>
            <a:ext cx="4745736" cy="1463040"/>
          </a:xfrm>
        </p:spPr>
        <p:txBody>
          <a:bodyPr>
            <a:normAutofit/>
          </a:bodyPr>
          <a:lstStyle/>
          <a:p>
            <a:r>
              <a:rPr lang="en-US" dirty="0"/>
              <a:t>Parallel Execution</a:t>
            </a:r>
          </a:p>
        </p:txBody>
      </p:sp>
      <p:pic>
        <p:nvPicPr>
          <p:cNvPr id="7" name="Picture 6" descr="A diagram of a workflow&#10;&#10;AI-generated content may be incorrect.">
            <a:extLst>
              <a:ext uri="{FF2B5EF4-FFF2-40B4-BE49-F238E27FC236}">
                <a16:creationId xmlns:a16="http://schemas.microsoft.com/office/drawing/2014/main" id="{431145B4-7956-B0CE-8F9F-3D301D0DE436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33077" r="2761" b="7671"/>
          <a:stretch>
            <a:fillRect/>
          </a:stretch>
        </p:blipFill>
        <p:spPr bwMode="auto">
          <a:xfrm>
            <a:off x="451104" y="929682"/>
            <a:ext cx="5705856" cy="5398440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6407" y="508090"/>
            <a:ext cx="4660733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E931F-D7D1-D09A-04E0-05680AA86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5160" y="2578608"/>
            <a:ext cx="4672584" cy="376732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Qubit mapping as token-swap problem (minimize SWAPs)</a:t>
            </a:r>
            <a:endParaRPr lang="en-US" altLang="en-US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SWAPs add noise </a:t>
            </a:r>
            <a:endParaRPr lang="en-US" altLang="en-US"/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prioritize high-fidelity paths</a:t>
            </a:r>
            <a:endParaRPr lang="en-US" altLang="en-US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Tasks run as transactions (parallel scheduled, one executes)</a:t>
            </a:r>
            <a:endParaRPr lang="en-US" altLang="en-US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Map logical</a:t>
            </a:r>
            <a:endParaRPr lang="en-US" altLang="en-US"/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 physical qubits using hardware topology</a:t>
            </a:r>
            <a:endParaRPr lang="en-US" altLang="en-US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Calibration tasks: high priority, no mapping, no interference</a:t>
            </a:r>
            <a:endParaRPr lang="en-US" altLang="en-US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Use FCFS scheduling</a:t>
            </a:r>
            <a:endParaRPr lang="en-US" altLang="en-US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Program → DAG → optimal execution order</a:t>
            </a:r>
            <a:endParaRPr lang="en-US" altLang="en-US"/>
          </a:p>
          <a:p>
            <a:pPr>
              <a:lnSpc>
                <a:spcPct val="100000"/>
              </a:lnSpc>
            </a:pPr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DBB9BFC-FF50-28BF-6885-CAF4F8031FD6}"/>
              </a:ext>
            </a:extLst>
          </p:cNvPr>
          <p:cNvSpPr/>
          <p:nvPr/>
        </p:nvSpPr>
        <p:spPr>
          <a:xfrm>
            <a:off x="1173892" y="4028303"/>
            <a:ext cx="1124465" cy="729047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546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BA4720-2688-C307-7D4E-F2841E0D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>
            <a:normAutofit/>
          </a:bodyPr>
          <a:lstStyle/>
          <a:p>
            <a:r>
              <a:rPr lang="en-US" dirty="0"/>
              <a:t>Automatic Calibration </a:t>
            </a:r>
          </a:p>
        </p:txBody>
      </p:sp>
      <p:sp>
        <p:nvSpPr>
          <p:cNvPr id="21" name="Freeform: Shape 17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C9BCDD7-E971-83F4-BCD7-D1DC59C7E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63640" cy="3767328"/>
          </a:xfrm>
        </p:spPr>
        <p:txBody>
          <a:bodyPr>
            <a:normAutofit/>
          </a:bodyPr>
          <a:lstStyle/>
          <a:p>
            <a:r>
              <a:rPr lang="en-US"/>
              <a:t>Coherence time can help derive coupling strength between the system and quantum environment</a:t>
            </a:r>
          </a:p>
          <a:p>
            <a:r>
              <a:rPr lang="en-US"/>
              <a:t>Qubit quality is affected by multiple factors</a:t>
            </a:r>
          </a:p>
          <a:p>
            <a:pPr lvl="1"/>
            <a:r>
              <a:rPr lang="en-US"/>
              <a:t>Automatic calibration is required</a:t>
            </a:r>
          </a:p>
          <a:p>
            <a:r>
              <a:rPr lang="en-US"/>
              <a:t>Calibration Steps</a:t>
            </a:r>
          </a:p>
          <a:p>
            <a:pPr lvl="1"/>
            <a:r>
              <a:rPr lang="en-US"/>
              <a:t>Performance checking</a:t>
            </a:r>
          </a:p>
          <a:p>
            <a:pPr lvl="1"/>
            <a:r>
              <a:rPr lang="en-US"/>
              <a:t>Error adjustment</a:t>
            </a:r>
          </a:p>
          <a:p>
            <a:r>
              <a:rPr lang="en-US"/>
              <a:t>Processors splits tasks in different regions</a:t>
            </a:r>
          </a:p>
          <a:p>
            <a:pPr lvl="1"/>
            <a:r>
              <a:rPr lang="en-US"/>
              <a:t>Improving fidelity</a:t>
            </a:r>
          </a:p>
        </p:txBody>
      </p:sp>
      <p:pic>
        <p:nvPicPr>
          <p:cNvPr id="4" name="Picture 3" descr="A diagram of a process&#10;&#10;AI-generated content may be incorrect.">
            <a:extLst>
              <a:ext uri="{FF2B5EF4-FFF2-40B4-BE49-F238E27FC236}">
                <a16:creationId xmlns:a16="http://schemas.microsoft.com/office/drawing/2014/main" id="{6BC102FA-47F2-5C9D-646D-C7BADF2BC5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" b="6298"/>
          <a:stretch>
            <a:fillRect/>
          </a:stretch>
        </p:blipFill>
        <p:spPr>
          <a:xfrm>
            <a:off x="6784558" y="1342211"/>
            <a:ext cx="4886234" cy="500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873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33AF6-A39C-E140-447D-0C7F5EC59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45087-880F-78C2-6718-A022BB700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Still in early stages</a:t>
            </a:r>
          </a:p>
          <a:p>
            <a:r>
              <a:rPr lang="en-US" dirty="0"/>
              <a:t>Core features accomplished</a:t>
            </a:r>
          </a:p>
          <a:p>
            <a:pPr lvl="1"/>
            <a:r>
              <a:rPr lang="en-US" dirty="0"/>
              <a:t>task scheduling, parallel execution, and calibration.</a:t>
            </a:r>
          </a:p>
          <a:p>
            <a:r>
              <a:rPr lang="en-US" dirty="0"/>
              <a:t>Resource Management</a:t>
            </a:r>
          </a:p>
          <a:p>
            <a:pPr lvl="1"/>
            <a:r>
              <a:rPr lang="en-US" dirty="0"/>
              <a:t>Another accomplishment but not in this presentation</a:t>
            </a:r>
          </a:p>
          <a:p>
            <a:r>
              <a:rPr lang="en-US" dirty="0"/>
              <a:t>Future work focus on bridges between quantum and Classical</a:t>
            </a:r>
          </a:p>
          <a:p>
            <a:r>
              <a:rPr lang="en-US" dirty="0"/>
              <a:t>Origin Pilot is available for download!</a:t>
            </a:r>
          </a:p>
          <a:p>
            <a:pPr lvl="1"/>
            <a:r>
              <a:rPr lang="en-US" dirty="0"/>
              <a:t>open-source ecosystem development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23" name="Picture 22" descr="A blue and white circular object&#10;&#10;AI-generated content may be incorrect.">
            <a:extLst>
              <a:ext uri="{FF2B5EF4-FFF2-40B4-BE49-F238E27FC236}">
                <a16:creationId xmlns:a16="http://schemas.microsoft.com/office/drawing/2014/main" id="{30698A67-8051-5FF7-36EB-F3A52C304C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954" t="2268" r="19031" b="12331"/>
          <a:stretch>
            <a:fillRect/>
          </a:stretch>
        </p:blipFill>
        <p:spPr>
          <a:xfrm>
            <a:off x="6117684" y="978408"/>
            <a:ext cx="5553108" cy="4484927"/>
          </a:xfrm>
          <a:custGeom>
            <a:avLst/>
            <a:gdLst>
              <a:gd name="csX0" fmla="*/ 2332299 w 4664598"/>
              <a:gd name="csY0" fmla="*/ 0 h 3767328"/>
              <a:gd name="csX1" fmla="*/ 4664598 w 4664598"/>
              <a:gd name="csY1" fmla="*/ 1883664 h 3767328"/>
              <a:gd name="csX2" fmla="*/ 2332299 w 4664598"/>
              <a:gd name="csY2" fmla="*/ 3767328 h 3767328"/>
              <a:gd name="csX3" fmla="*/ 0 w 4664598"/>
              <a:gd name="csY3" fmla="*/ 1883664 h 3767328"/>
              <a:gd name="csX4" fmla="*/ 2332299 w 4664598"/>
              <a:gd name="csY4" fmla="*/ 0 h 37673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664598" h="3767328">
                <a:moveTo>
                  <a:pt x="2332299" y="0"/>
                </a:moveTo>
                <a:cubicBezTo>
                  <a:pt x="3620392" y="0"/>
                  <a:pt x="4664598" y="843345"/>
                  <a:pt x="4664598" y="1883664"/>
                </a:cubicBezTo>
                <a:cubicBezTo>
                  <a:pt x="4664598" y="2923983"/>
                  <a:pt x="3620392" y="3767328"/>
                  <a:pt x="2332299" y="3767328"/>
                </a:cubicBezTo>
                <a:cubicBezTo>
                  <a:pt x="1044206" y="3767328"/>
                  <a:pt x="0" y="2923983"/>
                  <a:pt x="0" y="1883664"/>
                </a:cubicBezTo>
                <a:cubicBezTo>
                  <a:pt x="0" y="843345"/>
                  <a:pt x="1044206" y="0"/>
                  <a:pt x="2332299" y="0"/>
                </a:cubicBezTo>
                <a:close/>
              </a:path>
            </a:pathLst>
          </a:custGeom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3493474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B5887-DB02-2E53-355B-770B36F48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F259F-75DB-B084-7DE5-F23842159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“Origin Pilot: a Quantum Operating System for Efficient Usage of Quantum Resources,” Origin Quantum, accessed April 23, 2026, </a:t>
            </a:r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originqc.com</a:t>
            </a:r>
            <a:r>
              <a:rPr lang="en-US" dirty="0">
                <a:hlinkClick r:id="rId3"/>
              </a:rPr>
              <a:t>/blogs/origin-pilot-download</a:t>
            </a:r>
            <a:r>
              <a:rPr lang="en-US" dirty="0"/>
              <a:t>.</a:t>
            </a:r>
          </a:p>
          <a:p>
            <a:r>
              <a:rPr lang="en-US" dirty="0"/>
              <a:t>“Chinese Firm Releases Open-Source Quantum Operating System for Public Download,” The Quantum Insider, February 27, 2026, </a:t>
            </a:r>
            <a:r>
              <a:rPr lang="en-US" dirty="0">
                <a:hlinkClick r:id="rId4"/>
              </a:rPr>
              <a:t>https://</a:t>
            </a:r>
            <a:r>
              <a:rPr lang="en-US" dirty="0" err="1">
                <a:hlinkClick r:id="rId4"/>
              </a:rPr>
              <a:t>thequantuminsider.com</a:t>
            </a:r>
            <a:r>
              <a:rPr lang="en-US" dirty="0">
                <a:hlinkClick r:id="rId4"/>
              </a:rPr>
              <a:t>/2026/02/27/chinese-firm-releases-open-source-quantum-operating-system-for-public-download/.</a:t>
            </a:r>
            <a:endParaRPr lang="en-US" dirty="0"/>
          </a:p>
          <a:p>
            <a:r>
              <a:rPr lang="en-US" dirty="0"/>
              <a:t>Kong, Weicheng, </a:t>
            </a:r>
            <a:r>
              <a:rPr lang="en-US" dirty="0" err="1"/>
              <a:t>Junchao</a:t>
            </a:r>
            <a:r>
              <a:rPr lang="en-US" dirty="0"/>
              <a:t> Wang, </a:t>
            </a:r>
            <a:r>
              <a:rPr lang="en-US" dirty="0" err="1"/>
              <a:t>Yongjian</a:t>
            </a:r>
            <a:r>
              <a:rPr lang="en-US" dirty="0"/>
              <a:t> Han, </a:t>
            </a:r>
            <a:r>
              <a:rPr lang="en-US" dirty="0" err="1"/>
              <a:t>Yuchun</a:t>
            </a:r>
            <a:r>
              <a:rPr lang="en-US" dirty="0"/>
              <a:t> Wu, Yu Zhang, </a:t>
            </a:r>
            <a:r>
              <a:rPr lang="en-US" dirty="0" err="1"/>
              <a:t>Menghan</a:t>
            </a:r>
            <a:r>
              <a:rPr lang="en-US" dirty="0"/>
              <a:t> Dou, Yuan Fang, and </a:t>
            </a:r>
            <a:r>
              <a:rPr lang="en-US" dirty="0" err="1"/>
              <a:t>Guoping</a:t>
            </a:r>
            <a:r>
              <a:rPr lang="en-US" dirty="0"/>
              <a:t> Guo. "Origin pilot: a quantum operating system for </a:t>
            </a:r>
            <a:r>
              <a:rPr lang="en-US" dirty="0" err="1"/>
              <a:t>effecient</a:t>
            </a:r>
            <a:r>
              <a:rPr lang="en-US" dirty="0"/>
              <a:t> usage of quantum resources." </a:t>
            </a:r>
            <a:r>
              <a:rPr lang="en-US" dirty="0" err="1"/>
              <a:t>arXiv</a:t>
            </a:r>
            <a:r>
              <a:rPr lang="en-US" dirty="0"/>
              <a:t> preprint arXiv:2105.10730 (2021), </a:t>
            </a:r>
            <a:r>
              <a:rPr lang="en-US" dirty="0" err="1"/>
              <a:t>pg</a:t>
            </a:r>
            <a:r>
              <a:rPr lang="en-US" dirty="0"/>
              <a:t> 6.</a:t>
            </a:r>
          </a:p>
        </p:txBody>
      </p:sp>
    </p:spTree>
    <p:extLst>
      <p:ext uri="{BB962C8B-B14F-4D97-AF65-F5344CB8AC3E}">
        <p14:creationId xmlns:p14="http://schemas.microsoft.com/office/powerpoint/2010/main" val="3617267598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65a8de5-cf94-44f0-9caf-ae5bf8cfa366}" enabled="0" method="" siteId="{765a8de5-cf94-44f0-9caf-ae5bf8cfa36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2681</TotalTime>
  <Words>942</Words>
  <Application>Microsoft Macintosh PowerPoint</Application>
  <PresentationFormat>Widescreen</PresentationFormat>
  <Paragraphs>121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Bierstadt</vt:lpstr>
      <vt:lpstr>Cambria Math</vt:lpstr>
      <vt:lpstr>GestaltVTI</vt:lpstr>
      <vt:lpstr>Origin Pilot The First Quantum Operating System </vt:lpstr>
      <vt:lpstr>Introduction </vt:lpstr>
      <vt:lpstr>Task Scheduling</vt:lpstr>
      <vt:lpstr>Parallel Execution</vt:lpstr>
      <vt:lpstr>Automatic Calibration </vt:lpstr>
      <vt:lpstr>Conclusions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Caden Clements</dc:creator>
  <cp:lastModifiedBy>Caden Clements</cp:lastModifiedBy>
  <cp:revision>1</cp:revision>
  <cp:lastPrinted>2026-04-25T13:07:06Z</cp:lastPrinted>
  <dcterms:created xsi:type="dcterms:W3CDTF">2026-04-23T16:26:07Z</dcterms:created>
  <dcterms:modified xsi:type="dcterms:W3CDTF">2026-04-25T13:07:20Z</dcterms:modified>
</cp:coreProperties>
</file>